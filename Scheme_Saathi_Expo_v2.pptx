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Oswald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yDYFyd/zmnAtXjl6RBfqxGH0J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swald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V" Type="http://schemas.openxmlformats.org/officeDocument/2006/relationships/image" Target="../media/saathi_voice.png"/><Relationship Id="rIdH" Type="http://schemas.openxmlformats.org/officeDocument/2006/relationships/image" Target="../media/saathi_home.png"/><Relationship Id="rIdI1" Type="http://schemas.openxmlformats.org/officeDocument/2006/relationships/image" Target="../media/saathi_ic_mic.png"/><Relationship Id="rIdI2" Type="http://schemas.openxmlformats.org/officeDocument/2006/relationships/image" Target="../media/saathi_ic_match.png"/><Relationship Id="rIdI3" Type="http://schemas.openxmlformats.org/officeDocument/2006/relationships/image" Target="../media/saathi_ic_scan.png"/><Relationship Id="rIdI4" Type="http://schemas.openxmlformats.org/officeDocument/2006/relationships/image" Target="../media/saathi_ic_send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Arch" Type="http://schemas.openxmlformats.org/officeDocument/2006/relationships/image" Target="../media/saathi_architecture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Flow" Type="http://schemas.openxmlformats.org/officeDocument/2006/relationships/image" Target="../media/saathi_methodology.png"/><Relationship Id="rIdRev" Type="http://schemas.openxmlformats.org/officeDocument/2006/relationships/image" Target="../media/saathi_review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Stat" Type="http://schemas.openxmlformats.org/officeDocument/2006/relationships/image" Target="../media/saathi_status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Nov" Type="http://schemas.openxmlformats.org/officeDocument/2006/relationships/image" Target="../media/saathi_novelty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RI0" Type="http://schemas.openxmlformats.org/officeDocument/2006/relationships/image" Target="../media/saathi_ref_search.png"/><Relationship Id="rIdRI1" Type="http://schemas.openxmlformats.org/officeDocument/2006/relationships/image" Target="../media/saathi_ref_landmark.png"/><Relationship Id="rIdRI2" Type="http://schemas.openxmlformats.org/officeDocument/2006/relationships/image" Target="../media/saathi_ref_cpu.png"/><Relationship Id="rIdRI3" Type="http://schemas.openxmlformats.org/officeDocument/2006/relationships/image" Target="../media/saathi_ref_shield-check.png"/><Relationship Id="rIdL0" Type="http://schemas.openxmlformats.org/officeDocument/2006/relationships/hyperlink" Target="https://www.myscheme.gov.in" TargetMode="External"/><Relationship Id="rIdL1" Type="http://schemas.openxmlformats.org/officeDocument/2006/relationships/hyperlink" Target="https://news.microsoft.com/source/asia/features/with-help-from-next-generation-ai-indian-villagers-gain-easier-access-to-government-services/" TargetMode="External"/><Relationship Id="rIdL2" Type="http://schemas.openxmlformats.org/officeDocument/2006/relationships/hyperlink" Target="https://www.haqdarshak.com" TargetMode="External"/><Relationship Id="rIdL3" Type="http://schemas.openxmlformats.org/officeDocument/2006/relationships/hyperlink" Target="https://pmkisan.gov.in" TargetMode="External"/><Relationship Id="rIdL4" Type="http://schemas.openxmlformats.org/officeDocument/2006/relationships/hyperlink" Target="https://pmjay.gov.in" TargetMode="External"/><Relationship Id="rIdL5" Type="http://schemas.openxmlformats.org/officeDocument/2006/relationships/hyperlink" Target="https://kmut.tn.gov.in" TargetMode="External"/><Relationship Id="rIdL6" Type="http://schemas.openxmlformats.org/officeDocument/2006/relationships/hyperlink" Target="https://www.pudhumaipenn.tn.gov.in" TargetMode="External"/><Relationship Id="rIdL7" Type="http://schemas.openxmlformats.org/officeDocument/2006/relationships/hyperlink" Target="https://pmayg.nic.in" TargetMode="External"/><Relationship Id="rIdL8" Type="http://schemas.openxmlformats.org/officeDocument/2006/relationships/hyperlink" Target="https://bhashini.gov.in" TargetMode="External"/><Relationship Id="rIdL9" Type="http://schemas.openxmlformats.org/officeDocument/2006/relationships/hyperlink" Target="https://ai4bharat.iitm.ac.in" TargetMode="External"/><Relationship Id="rIdL10" Type="http://schemas.openxmlformats.org/officeDocument/2006/relationships/hyperlink" Target="https://flutter.dev" TargetMode="External"/><Relationship Id="rIdL11" Type="http://schemas.openxmlformats.org/officeDocument/2006/relationships/hyperlink" Target="https://developers.google.com/ml-kit/vision/text-recognition/v2" TargetMode="External"/><Relationship Id="rIdL12" Type="http://schemas.openxmlformats.org/officeDocument/2006/relationships/hyperlink" Target="https://github.com/tesseract-ocr/tesseract" TargetMode="External"/><Relationship Id="rIdL13" Type="http://schemas.openxmlformats.org/officeDocument/2006/relationships/hyperlink" Target="https://www.meity.gov.in/static/uploads/2024/06/2bf1f0e9f04e6fb4f8fef35e82c42aa5.pdf" TargetMode="External"/><Relationship Id="rIdL14" Type="http://schemas.openxmlformats.org/officeDocument/2006/relationships/hyperlink" Target="https://apisetu.gov.in" TargetMode="External"/><Relationship Id="rIdL15" Type="http://schemas.openxmlformats.org/officeDocument/2006/relationships/hyperlink" Target="https://cf-media.api-setu.in/resources/Partners-SOP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245686" y="2036167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465086" y="201115"/>
            <a:ext cx="10363200" cy="23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      </a:t>
            </a:r>
            <a:br>
              <a:rPr b="1" lang="en-US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CRESIGNITE - PROJECT EXPO 2K26</a:t>
            </a:r>
            <a:endParaRPr b="1" sz="4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71311" y="3429000"/>
            <a:ext cx="5924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Title-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Member Names-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9601" y="0"/>
            <a:ext cx="2811075" cy="76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Solution/Idea Abstract</a:t>
            </a:r>
            <a:br>
              <a:rPr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descr="Your startup LOGO" id="102" name="Google Shape;102;p2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3150" y="252257"/>
            <a:ext cx="16192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Picture 111" descr="Home screen: 5 matching schemes for the family"/>
          <p:cNvPicPr>
            <a:picLocks noChangeAspect="1"/>
          </p:cNvPicPr>
          <p:nvPr/>
        </p:nvPicPr>
        <p:blipFill>
          <a:blip r:embed="rIdH"/>
          <a:stretch>
            <a:fillRect/>
          </a:stretch>
        </p:blipFill>
        <p:spPr>
          <a:xfrm>
            <a:off x="3020749" y="1325880"/>
            <a:ext cx="2133781" cy="4617720"/>
          </a:xfrm>
          <a:prstGeom prst="roundRect">
            <a:avLst>
              <a:gd name="adj" fmla="val 11000"/>
            </a:avLst>
          </a:prstGeom>
          <a:ln w="57150">
            <a:solidFill>
              <a:srgbClr val="1E293B"/>
            </a:solidFill>
          </a:ln>
          <a:effectLst>
            <a:outerShdw blurRad="330200" dist="101600" dir="5400000" algn="t" rotWithShape="0">
              <a:srgbClr val="0F172A">
                <a:alpha val="22000"/>
              </a:srgbClr>
            </a:outerShdw>
          </a:effectLst>
        </p:spPr>
      </p:pic>
      <p:pic>
        <p:nvPicPr>
          <p:cNvPr id="112" name="Picture 112" descr="Voice onboarding screen asking age in Tamil"/>
          <p:cNvPicPr>
            <a:picLocks noChangeAspect="1"/>
          </p:cNvPicPr>
          <p:nvPr/>
        </p:nvPicPr>
        <p:blipFill>
          <a:blip r:embed="rIdV"/>
          <a:stretch>
            <a:fillRect/>
          </a:stretch>
        </p:blipFill>
        <p:spPr>
          <a:xfrm>
            <a:off x="566928" y="1325880"/>
            <a:ext cx="2133781" cy="4617720"/>
          </a:xfrm>
          <a:prstGeom prst="roundRect">
            <a:avLst>
              <a:gd name="adj" fmla="val 11000"/>
            </a:avLst>
          </a:prstGeom>
          <a:ln w="57150">
            <a:solidFill>
              <a:srgbClr val="1E293B"/>
            </a:solidFill>
          </a:ln>
          <a:effectLst>
            <a:outerShdw blurRad="330200" dist="101600" dir="5400000" algn="t" rotWithShape="0">
              <a:srgbClr val="0F172A">
                <a:alpha val="22000"/>
              </a:srgbClr>
            </a:outerShdw>
          </a:effectLst>
        </p:spPr>
      </p:pic>
      <p:sp>
        <p:nvSpPr>
          <p:cNvPr id="113" name="Pitch 113"/>
          <p:cNvSpPr txBox="1"/>
          <p:nvPr/>
        </p:nvSpPr>
        <p:spPr>
          <a:xfrm>
            <a:off x="5748889" y="1280160"/>
            <a:ext cx="5982863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0070C0"/>
                </a:solidFill>
                <a:latin typeface="Arial"/>
                <a:cs typeface="Arial"/>
              </a:rPr>
              <a:t>Scheme Saathi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62626"/>
                </a:solidFill>
                <a:latin typeface="Arial"/>
                <a:cs typeface="Arial"/>
              </a:rPr>
              <a:t>Find and apply for government schemes just by </a:t>
            </a:r>
            <a:r>
              <a:rPr lang="en-US" sz="1700" b="1" dirty="0">
                <a:solidFill>
                  <a:srgbClr val="262626"/>
                </a:solidFill>
                <a:latin typeface="Arial"/>
                <a:cs typeface="Arial"/>
              </a:rPr>
              <a:t>speaking in Tamil or English</a:t>
            </a:r>
            <a:r>
              <a:rPr lang="en-US" sz="1700" dirty="0">
                <a:solidFill>
                  <a:srgbClr val="262626"/>
                </a:solidFill>
                <a:latin typeface="Arial"/>
                <a:cs typeface="Arial"/>
              </a:rPr>
              <a:t> — free, with no middleman.</a:t>
            </a:r>
          </a:p>
        </p:txBody>
      </p:sp>
      <p:pic>
        <p:nvPicPr>
          <p:cNvPr id="114" name="Picture 114" descr="Speak icon"/>
          <p:cNvPicPr>
            <a:picLocks noChangeAspect="1"/>
          </p:cNvPicPr>
          <p:nvPr/>
        </p:nvPicPr>
        <p:blipFill>
          <a:blip r:embed="rIdI1"/>
          <a:stretch>
            <a:fillRect/>
          </a:stretch>
        </p:blipFill>
        <p:spPr>
          <a:xfrm>
            <a:off x="5748889" y="269748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5" name="Step 1 115"/>
          <p:cNvSpPr txBox="1"/>
          <p:nvPr/>
        </p:nvSpPr>
        <p:spPr>
          <a:xfrm>
            <a:off x="6544417" y="2679192"/>
            <a:ext cx="5187335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E79"/>
                </a:solidFill>
                <a:latin typeface="Arial"/>
                <a:cs typeface="Arial"/>
              </a:rPr>
              <a:t>Speak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595959"/>
                </a:solidFill>
                <a:latin typeface="Arial"/>
                <a:cs typeface="Arial"/>
              </a:rPr>
              <a:t>Answer simple questions by voice, one at a time</a:t>
            </a:r>
          </a:p>
        </p:txBody>
      </p:sp>
      <p:pic>
        <p:nvPicPr>
          <p:cNvPr id="116" name="Picture 116" descr="Match icon"/>
          <p:cNvPicPr>
            <a:picLocks noChangeAspect="1"/>
          </p:cNvPicPr>
          <p:nvPr/>
        </p:nvPicPr>
        <p:blipFill>
          <a:blip r:embed="rIdI2"/>
          <a:stretch>
            <a:fillRect/>
          </a:stretch>
        </p:blipFill>
        <p:spPr>
          <a:xfrm>
            <a:off x="5748889" y="342900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7" name="Step 2 117"/>
          <p:cNvSpPr txBox="1"/>
          <p:nvPr/>
        </p:nvSpPr>
        <p:spPr>
          <a:xfrm>
            <a:off x="6544417" y="3410712"/>
            <a:ext cx="5187335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E79"/>
                </a:solidFill>
                <a:latin typeface="Arial"/>
                <a:cs typeface="Arial"/>
              </a:rPr>
              <a:t>Match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595959"/>
                </a:solidFill>
                <a:latin typeface="Arial"/>
                <a:cs typeface="Arial"/>
              </a:rPr>
              <a:t>See every scheme your family qualifies for, and why</a:t>
            </a:r>
          </a:p>
        </p:txBody>
      </p:sp>
      <p:pic>
        <p:nvPicPr>
          <p:cNvPr id="118" name="Picture 118" descr="Auto-fill icon"/>
          <p:cNvPicPr>
            <a:picLocks noChangeAspect="1"/>
          </p:cNvPicPr>
          <p:nvPr/>
        </p:nvPicPr>
        <p:blipFill>
          <a:blip r:embed="rIdI3"/>
          <a:stretch>
            <a:fillRect/>
          </a:stretch>
        </p:blipFill>
        <p:spPr>
          <a:xfrm>
            <a:off x="5748889" y="416052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9" name="Step 3 119"/>
          <p:cNvSpPr txBox="1"/>
          <p:nvPr/>
        </p:nvSpPr>
        <p:spPr>
          <a:xfrm>
            <a:off x="6544417" y="4142232"/>
            <a:ext cx="5187335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E79"/>
                </a:solidFill>
                <a:latin typeface="Arial"/>
                <a:cs typeface="Arial"/>
              </a:rPr>
              <a:t>Auto-fill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595959"/>
                </a:solidFill>
                <a:latin typeface="Arial"/>
                <a:cs typeface="Arial"/>
              </a:rPr>
              <a:t>Profile + document photo (OCR) fill the form</a:t>
            </a:r>
          </a:p>
        </p:txBody>
      </p:sp>
      <p:pic>
        <p:nvPicPr>
          <p:cNvPr id="120" name="Picture 120" descr="Apply icon"/>
          <p:cNvPicPr>
            <a:picLocks noChangeAspect="1"/>
          </p:cNvPicPr>
          <p:nvPr/>
        </p:nvPicPr>
        <p:blipFill>
          <a:blip r:embed="rIdI4"/>
          <a:stretch>
            <a:fillRect/>
          </a:stretch>
        </p:blipFill>
        <p:spPr>
          <a:xfrm>
            <a:off x="5748889" y="4892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1" name="Step 4 121"/>
          <p:cNvSpPr txBox="1"/>
          <p:nvPr/>
        </p:nvSpPr>
        <p:spPr>
          <a:xfrm>
            <a:off x="6544417" y="4873752"/>
            <a:ext cx="5187335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E79"/>
                </a:solidFill>
                <a:latin typeface="Arial"/>
                <a:cs typeface="Arial"/>
              </a:rPr>
              <a:t>Apply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595959"/>
                </a:solidFill>
                <a:latin typeface="Arial"/>
                <a:cs typeface="Arial"/>
              </a:rPr>
              <a:t>Review, then get the ready-filled official form</a:t>
            </a:r>
          </a:p>
        </p:txBody>
      </p:sp>
      <p:sp>
        <p:nvSpPr>
          <p:cNvPr id="122" name="Tagline 122"/>
          <p:cNvSpPr txBox="1"/>
          <p:nvPr/>
        </p:nvSpPr>
        <p:spPr>
          <a:xfrm>
            <a:off x="5748889" y="5687568"/>
            <a:ext cx="598286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1" dirty="0">
                <a:solidFill>
                  <a:srgbClr val="0070C0"/>
                </a:solidFill>
                <a:latin typeface="Arial"/>
                <a:cs typeface="Arial"/>
              </a:rPr>
              <a:t>“myScheme tells you, Haqdarshak does it for a fee — we do it free with AI.”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Technology/Tools Planned</a:t>
            </a:r>
            <a:endParaRPr b="1" sz="36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descr="Your startup LOGO" id="113" name="Google Shape;113;p3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5725" y="252250"/>
            <a:ext cx="16192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Architecture diagram" descr="Scheme Saathi architecture: user, on-phone Flutter modules (voice, answer parser, rule engine, OCR, form filler, encrypted profiles), cloud services, and output"/>
          <p:cNvPicPr>
            <a:picLocks noChangeAspect="1"/>
          </p:cNvPicPr>
          <p:nvPr/>
        </p:nvPicPr>
        <p:blipFill>
          <a:blip r:embed="rIdArch"/>
          <a:stretch>
            <a:fillRect/>
          </a:stretch>
        </p:blipFill>
        <p:spPr>
          <a:xfrm>
            <a:off x="563728" y="1325880"/>
            <a:ext cx="11064240" cy="4769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Expected Outcome</a:t>
            </a:r>
            <a:endParaRPr b="1" sz="36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descr="Your startup LOGO" id="124" name="Google Shape;124;p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3525" y="436848"/>
            <a:ext cx="16192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Flow heading 131"/>
          <p:cNvSpPr txBox="1"/>
          <p:nvPr/>
        </p:nvSpPr>
        <p:spPr>
          <a:xfrm>
            <a:off x="566928" y="1170432"/>
            <a:ext cx="851257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E79"/>
                </a:solidFill>
                <a:latin typeface="Arial"/>
                <a:cs typeface="Arial"/>
              </a:rPr>
              <a:t>Methodology: how the app works</a:t>
            </a:r>
          </a:p>
        </p:txBody>
      </p:sp>
      <p:pic>
        <p:nvPicPr>
          <p:cNvPr id="132" name="Picture 132" descr="Flowchart: Onboard (steps 1-4), Discover (5-7), Apply (8-11), and 3-phase implementation plan"/>
          <p:cNvPicPr>
            <a:picLocks noChangeAspect="1"/>
          </p:cNvPicPr>
          <p:nvPr/>
        </p:nvPicPr>
        <p:blipFill>
          <a:blip r:embed="rIdFlow"/>
          <a:stretch>
            <a:fillRect/>
          </a:stretch>
        </p:blipFill>
        <p:spPr>
          <a:xfrm>
            <a:off x="566928" y="1591056"/>
            <a:ext cx="8512579" cy="3813635"/>
          </a:xfrm>
          <a:prstGeom prst="rect">
            <a:avLst/>
          </a:prstGeom>
          <a:ln>
            <a:noFill/>
          </a:ln>
        </p:spPr>
      </p:pic>
      <p:sp>
        <p:nvSpPr>
          <p:cNvPr id="133" name="Outcome 133"/>
          <p:cNvSpPr/>
          <p:nvPr/>
        </p:nvSpPr>
        <p:spPr>
          <a:xfrm>
            <a:off x="566928" y="5532707"/>
            <a:ext cx="8512579" cy="548640"/>
          </a:xfrm>
          <a:prstGeom prst="roundRect">
            <a:avLst>
              <a:gd name="adj" fmla="val 22000"/>
            </a:avLst>
          </a:prstGeom>
          <a:solidFill>
            <a:srgbClr val="E8F2FC"/>
          </a:solidFill>
          <a:ln>
            <a:noFill/>
          </a:ln>
        </p:spPr>
        <p:txBody>
          <a:bodyPr wrap="square" lIns="182880" tIns="0" rIns="182880" bIns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 xml:space="preserve">Expected outcome: </a:t>
            </a:r>
            <a:r>
              <a:rPr lang="en-US" sz="1400" dirty="0">
                <a:solidFill>
                  <a:srgbClr val="262626"/>
                </a:solidFill>
                <a:latin typeface="Arial"/>
                <a:cs typeface="Arial"/>
              </a:rPr>
              <a:t>anyone can find the schemes their family is eligible for just by speaking, and get a ready-filled official form — free, with no agent.</a:t>
            </a:r>
          </a:p>
        </p:txBody>
      </p:sp>
      <p:pic>
        <p:nvPicPr>
          <p:cNvPr id="134" name="Picture 134" descr="Prototype screen: review auto-filled PM-KISAN form, each field tagged Profile, Document or Voice"/>
          <p:cNvPicPr>
            <a:picLocks noChangeAspect="1"/>
          </p:cNvPicPr>
          <p:nvPr/>
        </p:nvPicPr>
        <p:blipFill>
          <a:blip r:embed="rIdRev"/>
          <a:stretch>
            <a:fillRect/>
          </a:stretch>
        </p:blipFill>
        <p:spPr>
          <a:xfrm>
            <a:off x="9490987" y="1325880"/>
            <a:ext cx="2133781" cy="4617720"/>
          </a:xfrm>
          <a:prstGeom prst="roundRect">
            <a:avLst>
              <a:gd name="adj" fmla="val 11000"/>
            </a:avLst>
          </a:prstGeom>
          <a:ln w="57150">
            <a:solidFill>
              <a:srgbClr val="1E293B"/>
            </a:solidFill>
          </a:ln>
          <a:effectLst>
            <a:outerShdw blurRad="330200" dist="101600" dir="5400000" algn="t" rotWithShape="0">
              <a:srgbClr val="0F172A">
                <a:alpha val="22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Project Status</a:t>
            </a:r>
            <a:endParaRPr b="1" sz="36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35" name="Google Shape;135;p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0075" y="436835"/>
            <a:ext cx="16192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Status diagram" descr="Project status tracker, feasibility ratings, and challenges with strategies"/>
          <p:cNvPicPr>
            <a:picLocks noChangeAspect="1"/>
          </p:cNvPicPr>
          <p:nvPr/>
        </p:nvPicPr>
        <p:blipFill>
          <a:blip r:embed="rIdStat"/>
          <a:stretch>
            <a:fillRect/>
          </a:stretch>
        </p:blipFill>
        <p:spPr>
          <a:xfrm>
            <a:off x="563728" y="1207008"/>
            <a:ext cx="11064240" cy="4959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Novelty / Uniqueness</a:t>
            </a:r>
            <a:endParaRPr b="1" sz="36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46" name="Google Shape;146;p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4900" y="657223"/>
            <a:ext cx="16192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Novelty diagram" descr="Comparison with myScheme, Jugalbandi and Haqdarshak; potential impact; social, economic and environmental benefits"/>
          <p:cNvPicPr>
            <a:picLocks noChangeAspect="1"/>
          </p:cNvPicPr>
          <p:nvPr/>
        </p:nvPicPr>
        <p:blipFill>
          <a:blip r:embed="rIdNov"/>
          <a:stretch>
            <a:fillRect/>
          </a:stretch>
        </p:blipFill>
        <p:spPr>
          <a:xfrm>
            <a:off x="563728" y="1572768"/>
            <a:ext cx="11064240" cy="4311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RESEARCH  AND REFERENCES</a:t>
            </a:r>
            <a:endParaRPr b="1" sz="36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7" name="Google Shape;157;p7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4900" y="621433"/>
            <a:ext cx="16192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Ref card 161"/>
          <p:cNvSpPr/>
          <p:nvPr/>
        </p:nvSpPr>
        <p:spPr>
          <a:xfrm>
            <a:off x="566928" y="1298448"/>
            <a:ext cx="5390388" cy="2194560"/>
          </a:xfrm>
          <a:prstGeom prst="roundRect">
            <a:avLst>
              <a:gd name="adj" fmla="val 7000"/>
            </a:avLst>
          </a:prstGeom>
          <a:solidFill>
            <a:srgbClr val="F3F8FD"/>
          </a:solidFill>
          <a:ln w="12700">
            <a:solidFill>
              <a:srgbClr val="DCE7F3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162" name="Icon 162" descr="Existing solutions studied icon"/>
          <p:cNvPicPr>
            <a:picLocks noChangeAspect="1"/>
          </p:cNvPicPr>
          <p:nvPr/>
        </p:nvPicPr>
        <p:blipFill>
          <a:blip r:embed="rIdRI0"/>
          <a:stretch>
            <a:fillRect/>
          </a:stretch>
        </p:blipFill>
        <p:spPr>
          <a:xfrm>
            <a:off x="795528" y="14813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Ref title 163"/>
          <p:cNvSpPr txBox="1"/>
          <p:nvPr/>
        </p:nvSpPr>
        <p:spPr>
          <a:xfrm>
            <a:off x="1353312" y="1481328"/>
            <a:ext cx="438454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F4E79"/>
                </a:solidFill>
                <a:latin typeface="Arial"/>
                <a:cs typeface="Arial"/>
              </a:rPr>
              <a:t>Existing solutions studied</a:t>
            </a:r>
          </a:p>
        </p:txBody>
      </p:sp>
      <p:sp>
        <p:nvSpPr>
          <p:cNvPr id="164" name="Ref links 164"/>
          <p:cNvSpPr txBox="1"/>
          <p:nvPr/>
        </p:nvSpPr>
        <p:spPr>
          <a:xfrm>
            <a:off x="841248" y="2075688"/>
            <a:ext cx="4887468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myScheme — National scheme platform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0"/>
              </a:rPr>
              <a:t>myscheme.gov.in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Jugalbandi — Microsoft + AI4Bharat chatbot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1"/>
              </a:rPr>
              <a:t>news.microsoft.com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Haqdarshak — Welfare access via agents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2"/>
              </a:rPr>
              <a:t>haqdarshak.com</a:t>
            </a:r>
          </a:p>
        </p:txBody>
      </p:sp>
      <p:sp>
        <p:nvSpPr>
          <p:cNvPr id="165" name="Ref card 165"/>
          <p:cNvSpPr/>
          <p:nvPr/>
        </p:nvSpPr>
        <p:spPr>
          <a:xfrm>
            <a:off x="6231636" y="1298448"/>
            <a:ext cx="5390388" cy="2194560"/>
          </a:xfrm>
          <a:prstGeom prst="roundRect">
            <a:avLst>
              <a:gd name="adj" fmla="val 7000"/>
            </a:avLst>
          </a:prstGeom>
          <a:solidFill>
            <a:srgbClr val="F3F8FD"/>
          </a:solidFill>
          <a:ln w="12700">
            <a:solidFill>
              <a:srgbClr val="DCE7F3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166" name="Icon 166" descr="Government scheme sources icon"/>
          <p:cNvPicPr>
            <a:picLocks noChangeAspect="1"/>
          </p:cNvPicPr>
          <p:nvPr/>
        </p:nvPicPr>
        <p:blipFill>
          <a:blip r:embed="rIdRI1"/>
          <a:stretch>
            <a:fillRect/>
          </a:stretch>
        </p:blipFill>
        <p:spPr>
          <a:xfrm>
            <a:off x="6460236" y="14813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Ref title 167"/>
          <p:cNvSpPr txBox="1"/>
          <p:nvPr/>
        </p:nvSpPr>
        <p:spPr>
          <a:xfrm>
            <a:off x="7018020" y="1481328"/>
            <a:ext cx="438454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F4E79"/>
                </a:solidFill>
                <a:latin typeface="Arial"/>
                <a:cs typeface="Arial"/>
              </a:rPr>
              <a:t>Government scheme sources</a:t>
            </a:r>
          </a:p>
        </p:txBody>
      </p:sp>
      <p:sp>
        <p:nvSpPr>
          <p:cNvPr id="168" name="Ref links 168"/>
          <p:cNvSpPr txBox="1"/>
          <p:nvPr/>
        </p:nvSpPr>
        <p:spPr>
          <a:xfrm>
            <a:off x="6505956" y="2075688"/>
            <a:ext cx="4887468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PM-KISAN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3"/>
              </a:rPr>
              <a:t>pmkisan.gov.in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Ayushman Bharat PM-JAY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4"/>
              </a:rPr>
              <a:t>pmjay.gov.in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Kalaignar Magalir Urimai Thogai (TN)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5"/>
              </a:rPr>
              <a:t>kmut.tn.gov.in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Pudhumai Penn (TN)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6"/>
              </a:rPr>
              <a:t>pudhumaipenn.tn.gov.in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PMAY – Gramin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7"/>
              </a:rPr>
              <a:t>pmayg.nic.in</a:t>
            </a:r>
          </a:p>
        </p:txBody>
      </p:sp>
      <p:sp>
        <p:nvSpPr>
          <p:cNvPr id="169" name="Ref card 169"/>
          <p:cNvSpPr/>
          <p:nvPr/>
        </p:nvSpPr>
        <p:spPr>
          <a:xfrm>
            <a:off x="566928" y="3694176"/>
            <a:ext cx="5390388" cy="2194560"/>
          </a:xfrm>
          <a:prstGeom prst="roundRect">
            <a:avLst>
              <a:gd name="adj" fmla="val 7000"/>
            </a:avLst>
          </a:prstGeom>
          <a:solidFill>
            <a:srgbClr val="F3F8FD"/>
          </a:solidFill>
          <a:ln w="12700">
            <a:solidFill>
              <a:srgbClr val="DCE7F3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170" name="Icon 170" descr="Language AI &amp; technology icon"/>
          <p:cNvPicPr>
            <a:picLocks noChangeAspect="1"/>
          </p:cNvPicPr>
          <p:nvPr/>
        </p:nvPicPr>
        <p:blipFill>
          <a:blip r:embed="rIdRI2"/>
          <a:stretch>
            <a:fillRect/>
          </a:stretch>
        </p:blipFill>
        <p:spPr>
          <a:xfrm>
            <a:off x="795528" y="3877056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Ref title 171"/>
          <p:cNvSpPr txBox="1"/>
          <p:nvPr/>
        </p:nvSpPr>
        <p:spPr>
          <a:xfrm>
            <a:off x="1353312" y="3877056"/>
            <a:ext cx="438454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F4E79"/>
                </a:solidFill>
                <a:latin typeface="Arial"/>
                <a:cs typeface="Arial"/>
              </a:rPr>
              <a:t>Language AI &amp; technology</a:t>
            </a:r>
          </a:p>
        </p:txBody>
      </p:sp>
      <p:sp>
        <p:nvSpPr>
          <p:cNvPr id="172" name="Ref links 172"/>
          <p:cNvSpPr txBox="1"/>
          <p:nvPr/>
        </p:nvSpPr>
        <p:spPr>
          <a:xfrm>
            <a:off x="841248" y="4471416"/>
            <a:ext cx="4887468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Bhashini — Govt Indian-language AI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8"/>
              </a:rPr>
              <a:t>bhashini.gov.in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AI4Bharat — Indic speech models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9"/>
              </a:rPr>
              <a:t>ai4bharat.iitm.ac.in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Flutter — App framework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10"/>
              </a:rPr>
              <a:t>flutter.dev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Google ML Kit — Text recognition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11"/>
              </a:rPr>
              <a:t>developers.google.com/ml-kit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Tesseract OCR — Tamil support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12"/>
              </a:rPr>
              <a:t>github.com/tesseract-ocr</a:t>
            </a:r>
          </a:p>
        </p:txBody>
      </p:sp>
      <p:sp>
        <p:nvSpPr>
          <p:cNvPr id="173" name="Ref card 173"/>
          <p:cNvSpPr/>
          <p:nvPr/>
        </p:nvSpPr>
        <p:spPr>
          <a:xfrm>
            <a:off x="6231636" y="3694176"/>
            <a:ext cx="5390388" cy="2194560"/>
          </a:xfrm>
          <a:prstGeom prst="roundRect">
            <a:avLst>
              <a:gd name="adj" fmla="val 7000"/>
            </a:avLst>
          </a:prstGeom>
          <a:solidFill>
            <a:srgbClr val="F3F8FD"/>
          </a:solidFill>
          <a:ln w="12700">
            <a:solidFill>
              <a:srgbClr val="DCE7F3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174" name="Icon 174" descr="Law, privacy &amp; data access icon"/>
          <p:cNvPicPr>
            <a:picLocks noChangeAspect="1"/>
          </p:cNvPicPr>
          <p:nvPr/>
        </p:nvPicPr>
        <p:blipFill>
          <a:blip r:embed="rIdRI3"/>
          <a:stretch>
            <a:fillRect/>
          </a:stretch>
        </p:blipFill>
        <p:spPr>
          <a:xfrm>
            <a:off x="6460236" y="3877056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Ref title 175"/>
          <p:cNvSpPr txBox="1"/>
          <p:nvPr/>
        </p:nvSpPr>
        <p:spPr>
          <a:xfrm>
            <a:off x="7018020" y="3877056"/>
            <a:ext cx="438454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F4E79"/>
                </a:solidFill>
                <a:latin typeface="Arial"/>
                <a:cs typeface="Arial"/>
              </a:rPr>
              <a:t>Law, privacy &amp; data access</a:t>
            </a:r>
          </a:p>
        </p:txBody>
      </p:sp>
      <p:sp>
        <p:nvSpPr>
          <p:cNvPr id="176" name="Ref links 176"/>
          <p:cNvSpPr txBox="1"/>
          <p:nvPr/>
        </p:nvSpPr>
        <p:spPr>
          <a:xfrm>
            <a:off x="6505956" y="4471416"/>
            <a:ext cx="4887468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Digital Personal Data Protection Act, 2023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13"/>
              </a:rPr>
              <a:t>meity.gov.in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API Setu — Govt API platform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14"/>
              </a:rPr>
              <a:t>apisetu.gov.in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/>
                <a:cs typeface="Arial"/>
              </a:rPr>
              <a:t>DigiLocker partner onboarding SOP</a:t>
            </a:r>
            <a:r>
              <a:rPr lang="en-US" sz="1200" dirty="0">
                <a:solidFill>
                  <a:srgbClr val="1E293B"/>
                </a:solidFill>
                <a:latin typeface="Arial"/>
                <a:cs typeface="Arial"/>
              </a:rPr>
              <a:t xml:space="preserve">   </a:t>
            </a:r>
            <a:r>
              <a:rPr lang="en-US" sz="1200" u="sng" dirty="0">
                <a:solidFill>
                  <a:srgbClr val="0070C0"/>
                </a:solidFill>
                <a:latin typeface="Arial"/>
                <a:cs typeface="Arial"/>
                <a:hlinkClick r:id="rIdL15"/>
              </a:rPr>
              <a:t>api-setu.in (PDF)</a:t>
            </a:r>
          </a:p>
        </p:txBody>
      </p:sp>
      <p:sp>
        <p:nvSpPr>
          <p:cNvPr id="177" name="Ref note 177"/>
          <p:cNvSpPr txBox="1"/>
          <p:nvPr/>
        </p:nvSpPr>
        <p:spPr>
          <a:xfrm>
            <a:off x="566928" y="5980176"/>
            <a:ext cx="110550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/>
                <a:cs typeface="Arial"/>
              </a:rPr>
              <a:t>Sources as of September 2026. Scheme benefit amounts on our slides come from these official sites.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